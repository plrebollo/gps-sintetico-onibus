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7" r:id="rId36"/>
    <p:sldId id="278" r:id="rId37"/>
    <p:sldId id="266" r:id="rId15"/>
    <p:sldId id="276" r:id="rId35"/>
    <p:sldId id="267" r:id="rId16"/>
    <p:sldId id="268" r:id="rId17"/>
    <p:sldId id="269" r:id="rId18"/>
    <p:sldId id="279" r:id="rId38"/>
    <p:sldId id="270" r:id="rId19"/>
    <p:sldId id="271" r:id="rId20"/>
    <p:sldId id="272" r:id="rId21"/>
    <p:sldId id="273" r:id="rId22"/>
    <p:sldId id="274" r:id="rId23"/>
    <p:sldId id="275" r:id="rId24"/>
    <p:sldId id="280" r:id="rId39"/>
    <p:sldId id="281" r:id="rId40"/>
  </p:sldIdLst>
  <p:sldSz cy="6858000" cx="9906000"/>
  <p:notesSz cx="6797675" cy="9926625"/>
  <p:embeddedFontLst>
    <p:embeddedFont>
      <p:font typeface="Montserrat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font" Target="fonts/Montserrat-regular.fntdata"/><Relationship Id="rId26" Type="http://schemas.openxmlformats.org/officeDocument/2006/relationships/font" Target="fonts/Montserrat-bold.fntdata"/><Relationship Id="rId27" Type="http://schemas.openxmlformats.org/officeDocument/2006/relationships/font" Target="fonts/Montserrat-italic.fntdata"/><Relationship Id="rId28" Type="http://schemas.openxmlformats.org/officeDocument/2006/relationships/font" Target="fonts/Montserrat-boldItalic.fntdata"/><Relationship Id="rId29" Type="http://schemas.openxmlformats.org/officeDocument/2006/relationships/font" Target="fonts/DMSans-regular.fntdata"/><Relationship Id="rId30" Type="http://schemas.openxmlformats.org/officeDocument/2006/relationships/font" Target="fonts/DMSans-bold.fntdata"/><Relationship Id="rId31" Type="http://schemas.openxmlformats.org/officeDocument/2006/relationships/font" Target="fonts/DMSans-italic.fntdata"/><Relationship Id="rId32" Type="http://schemas.openxmlformats.org/officeDocument/2006/relationships/font" Target="fonts/DMSans-boldItalic.fntdata"/><Relationship Id="rId33" Type="http://schemas.openxmlformats.org/officeDocument/2006/relationships/font" Target="fonts/SpaceGrotesk-regular.fntdata"/><Relationship Id="rId34" Type="http://schemas.openxmlformats.org/officeDocument/2006/relationships/font" Target="fonts/SpaceGrotesk-bold.fntdata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3402404998779b45_0_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3402404998779b45_0_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3402404998779b45_0_192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h3402404998779b45_0_192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h3402404998779b45_0_192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402404998779b45_0_221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h3402404998779b45_0_221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3402404998779b45_0_221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402404998779b45_0_248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h3402404998779b45_0_248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3402404998779b45_0_248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3402404998779b45_0_265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h3402404998779b45_0_265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h3402404998779b45_0_265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3402404998779b45_0_282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h3402404998779b45_0_282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3402404998779b45_0_282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3402404998779b45_0_29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3402404998779b45_0_29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3402404998779b45_0_44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3402404998779b45_0_44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3402404998779b45_0_399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h3402404998779b45_0_399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3402404998779b45_0_399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3402404998779b45_0_408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h3402404998779b45_0_408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3402404998779b45_0_408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3402404998779b45_0_420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h3402404998779b45_0_420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3402404998779b45_0_420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3402404998779b45_0_430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h3402404998779b45_0_430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3402404998779b45_0_430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3402404998779b45_0_461:notes"/>
          <p:cNvSpPr/>
          <p:nvPr>
            <p:ph idx="2" type="sldImg"/>
          </p:nvPr>
        </p:nvSpPr>
        <p:spPr>
          <a:xfrm>
            <a:off x="979560" y="1241280"/>
            <a:ext cx="4838100" cy="334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h3402404998779b45_0_461:notes"/>
          <p:cNvSpPr txBox="1"/>
          <p:nvPr>
            <p:ph idx="1" type="body"/>
          </p:nvPr>
        </p:nvSpPr>
        <p:spPr>
          <a:xfrm>
            <a:off x="679320" y="4776840"/>
            <a:ext cx="5438100" cy="3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3402404998779b45_0_461:notes"/>
          <p:cNvSpPr txBox="1"/>
          <p:nvPr>
            <p:ph idx="12" type="sldNum"/>
          </p:nvPr>
        </p:nvSpPr>
        <p:spPr>
          <a:xfrm>
            <a:off x="3849840" y="9429840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3402404998779b45_0_47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3402404998779b45_0_47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3402404998779b45_0_58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h3402404998779b45_0_588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3402404998779b45_0_61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3402404998779b45_0_61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3402404998779b45_0_57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3402404998779b45_0_57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3402404998779b45_0_58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3402404998779b45_0_58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3402404998779b45_0_60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h3402404998779b45_0_604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3402404998779b45_0_59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3402404998779b45_0_59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681038" y="1253331"/>
            <a:ext cx="8544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0" type="dt"/>
          </p:nvPr>
        </p:nvSpPr>
        <p:spPr>
          <a:xfrm>
            <a:off x="80044" y="6429677"/>
            <a:ext cx="89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tarja.pdf" id="93" name="Google Shape;93;p15"/>
          <p:cNvPicPr preferRelativeResize="0"/>
          <p:nvPr/>
        </p:nvPicPr>
        <p:blipFill rotWithShape="1">
          <a:blip r:embed="rId2">
            <a:alphaModFix/>
          </a:blip>
          <a:srcRect b="84468" l="0" r="6803" t="0"/>
          <a:stretch/>
        </p:blipFill>
        <p:spPr>
          <a:xfrm>
            <a:off x="0" y="110"/>
            <a:ext cx="9907586" cy="1065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| Faculdade de Ciências Médicas" id="94" name="Google Shape;94;p15"/>
          <p:cNvPicPr preferRelativeResize="0"/>
          <p:nvPr/>
        </p:nvPicPr>
        <p:blipFill rotWithShape="1">
          <a:blip r:embed="rId3">
            <a:alphaModFix/>
          </a:blip>
          <a:srcRect b="11085" l="56841" r="7070" t="11879"/>
          <a:stretch/>
        </p:blipFill>
        <p:spPr>
          <a:xfrm>
            <a:off x="80044" y="57664"/>
            <a:ext cx="809641" cy="8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type="title"/>
          </p:nvPr>
        </p:nvSpPr>
        <p:spPr>
          <a:xfrm>
            <a:off x="1282031" y="63198"/>
            <a:ext cx="8544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p15"/>
          <p:cNvCxnSpPr/>
          <p:nvPr/>
        </p:nvCxnSpPr>
        <p:spPr>
          <a:xfrm>
            <a:off x="9362790" y="6489572"/>
            <a:ext cx="0" cy="238800"/>
          </a:xfrm>
          <a:prstGeom prst="straightConnector1">
            <a:avLst/>
          </a:prstGeom>
          <a:noFill/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9432324" y="6418178"/>
            <a:ext cx="473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rja.pdf" id="10" name="Google Shape;10;p1"/>
          <p:cNvPicPr preferRelativeResize="0"/>
          <p:nvPr/>
        </p:nvPicPr>
        <p:blipFill rotWithShape="1">
          <a:blip r:embed="rId1">
            <a:alphaModFix/>
          </a:blip>
          <a:srcRect b="84485" l="0" r="6801" t="0"/>
          <a:stretch/>
        </p:blipFill>
        <p:spPr>
          <a:xfrm>
            <a:off x="0" y="0"/>
            <a:ext cx="9906840" cy="1064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| Faculdade de Ciências Médicas" id="11" name="Google Shape;11;p1"/>
          <p:cNvPicPr preferRelativeResize="0"/>
          <p:nvPr/>
        </p:nvPicPr>
        <p:blipFill rotWithShape="1">
          <a:blip r:embed="rId2">
            <a:alphaModFix/>
          </a:blip>
          <a:srcRect b="11079" l="56843" r="7068" t="11883"/>
          <a:stretch/>
        </p:blipFill>
        <p:spPr>
          <a:xfrm>
            <a:off x="79920" y="57600"/>
            <a:ext cx="808920" cy="871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1"/>
          <p:cNvCxnSpPr/>
          <p:nvPr/>
        </p:nvCxnSpPr>
        <p:spPr>
          <a:xfrm>
            <a:off x="9362520" y="6489360"/>
            <a:ext cx="720" cy="239400"/>
          </a:xfrm>
          <a:prstGeom prst="straightConnector1">
            <a:avLst/>
          </a:prstGeom>
          <a:noFill/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9432360" y="6418080"/>
            <a:ext cx="4730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79920" y="6429600"/>
            <a:ext cx="8913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84632" y="1078992"/>
            <a:ext cx="932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Modelo Gerador de Dados Sintéticos </a:t>
            </a:r>
            <a:r>
              <a:rPr b="1" lang="pt-BR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 visão geral 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f01_pipeline"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000" y="1779358"/>
            <a:ext cx="9406000" cy="424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898650" y="1791775"/>
            <a:ext cx="86178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Recebe as viagens históricas e devolve novas viagens sintéticas com comportamentos realistas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Pontos importantes: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○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Gerar dados com frequência de captura de 1 Hz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○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Capturar desempenho realista do ônibus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○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Capturar variações de acordo com o horário	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7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1310537" y="3871350"/>
            <a:ext cx="7238700" cy="2100175"/>
            <a:chOff x="1310537" y="3871350"/>
            <a:chExt cx="7238700" cy="2100175"/>
          </a:xfrm>
        </p:grpSpPr>
        <p:pic>
          <p:nvPicPr>
            <p:cNvPr id="116" name="Google Shape;116;p17" title="Captura de Tela 2026-08-25 às 14.46.48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10537" y="3871350"/>
              <a:ext cx="7238700" cy="2100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7" title="Captura de Tela 2026-08-25 às 14.46.48.png"/>
            <p:cNvPicPr preferRelativeResize="0"/>
            <p:nvPr/>
          </p:nvPicPr>
          <p:blipFill rotWithShape="1">
            <a:blip r:embed="rId3">
              <a:alphaModFix/>
            </a:blip>
            <a:srcRect b="26761" l="16471" r="79005" t="53872"/>
            <a:stretch/>
          </p:blipFill>
          <p:spPr>
            <a:xfrm>
              <a:off x="1740219" y="5014850"/>
              <a:ext cx="327475" cy="4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7" title="Captura de Tela 2026-08-25 às 14.46.48.png"/>
            <p:cNvPicPr preferRelativeResize="0"/>
            <p:nvPr/>
          </p:nvPicPr>
          <p:blipFill rotWithShape="1">
            <a:blip r:embed="rId3">
              <a:alphaModFix/>
            </a:blip>
            <a:srcRect b="26761" l="16471" r="79005" t="53872"/>
            <a:stretch/>
          </p:blipFill>
          <p:spPr>
            <a:xfrm>
              <a:off x="4016444" y="5014850"/>
              <a:ext cx="327475" cy="4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 title="Captura de Tela 2026-08-25 às 14.46.48.png"/>
            <p:cNvPicPr preferRelativeResize="0"/>
            <p:nvPr/>
          </p:nvPicPr>
          <p:blipFill rotWithShape="1">
            <a:blip r:embed="rId3">
              <a:alphaModFix/>
            </a:blip>
            <a:srcRect b="26761" l="16471" r="79005" t="53872"/>
            <a:stretch/>
          </p:blipFill>
          <p:spPr>
            <a:xfrm>
              <a:off x="7827075" y="5014850"/>
              <a:ext cx="327475" cy="406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898650" y="1791775"/>
            <a:ext cx="86178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Parte 1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- Separar a viagem em ida e volta e descobrir trajtórias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Utiliza-s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e o modelo já desenvolvido que descobre rotas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450" y="2963150"/>
            <a:ext cx="3394275" cy="33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898650" y="1791775"/>
            <a:ext cx="86178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Parte 2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- Projeç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ão na trajetória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Transforma um ponto que tem (lat, lon, t) em (s, t)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Os resíduos laterais são reinseridos no final da geração sintética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9" name="Google Shape;139;p19"/>
          <p:cNvGrpSpPr/>
          <p:nvPr/>
        </p:nvGrpSpPr>
        <p:grpSpPr>
          <a:xfrm>
            <a:off x="624338" y="3363418"/>
            <a:ext cx="8657331" cy="2889249"/>
            <a:chOff x="624338" y="3363418"/>
            <a:chExt cx="8657331" cy="2889249"/>
          </a:xfrm>
        </p:grpSpPr>
        <p:pic>
          <p:nvPicPr>
            <p:cNvPr descr="Amostra de GPS projetada na rota curva e a mesma posição numa régua reta" id="140" name="Google Shape;140;p19"/>
            <p:cNvPicPr preferRelativeResize="0"/>
            <p:nvPr/>
          </p:nvPicPr>
          <p:blipFill rotWithShape="1">
            <a:blip r:embed="rId3">
              <a:alphaModFix/>
            </a:blip>
            <a:srcRect b="-10" l="0" r="0" t="-20"/>
            <a:stretch/>
          </p:blipFill>
          <p:spPr>
            <a:xfrm>
              <a:off x="624338" y="3363418"/>
              <a:ext cx="8585201" cy="2889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9"/>
            <p:cNvSpPr/>
            <p:nvPr/>
          </p:nvSpPr>
          <p:spPr>
            <a:xfrm>
              <a:off x="2455900" y="4523293"/>
              <a:ext cx="1279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6DB4"/>
                </a:buClr>
                <a:buSzPts val="1400"/>
                <a:buFont typeface="DM Sans"/>
                <a:buNone/>
              </a:pPr>
              <a:r>
                <a:rPr b="1" i="0" lang="pt-BR" sz="1400" u="none" cap="none" strike="noStrike">
                  <a:solidFill>
                    <a:srgbClr val="2E6DB4"/>
                  </a:solidFill>
                  <a:latin typeface="DM Sans"/>
                  <a:ea typeface="DM Sans"/>
                  <a:cs typeface="DM Sans"/>
                  <a:sym typeface="DM Sans"/>
                </a:rPr>
                <a:t>ponto</a:t>
              </a:r>
              <a:endParaRPr b="0" i="0" sz="1400" u="none" cap="none" strike="noStrike">
                <a:solidFill>
                  <a:srgbClr val="14233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2430119" y="5116018"/>
              <a:ext cx="13311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200"/>
                <a:buFont typeface="DM Sans"/>
                <a:buNone/>
              </a:pPr>
              <a:r>
                <a:rPr b="0" i="0" lang="pt-BR" sz="1200" u="none" cap="none" strike="noStrike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rPr>
                <a:t>desvio lateral</a:t>
              </a:r>
              <a:endParaRPr b="0" i="0" sz="1200" u="none" cap="none" strike="noStrike">
                <a:solidFill>
                  <a:srgbClr val="14233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descr="arrow-right" id="143" name="Google Shape;14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9088" y="5217618"/>
              <a:ext cx="567531" cy="288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9"/>
            <p:cNvSpPr/>
            <p:nvPr/>
          </p:nvSpPr>
          <p:spPr>
            <a:xfrm>
              <a:off x="6720150" y="4452656"/>
              <a:ext cx="1279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33A"/>
                </a:buClr>
                <a:buSzPts val="1400"/>
                <a:buFont typeface="DM Sans"/>
                <a:buNone/>
              </a:pPr>
              <a:r>
                <a:rPr b="1" i="0" lang="pt-BR" sz="1400" u="none" cap="none" strike="noStrike">
                  <a:solidFill>
                    <a:srgbClr val="14233A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endParaRPr b="0" i="0" sz="1400" u="none" cap="none" strike="noStrike">
                <a:solidFill>
                  <a:srgbClr val="14233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5164588" y="5751018"/>
              <a:ext cx="660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DM Sans"/>
                <a:buNone/>
              </a:pPr>
              <a:r>
                <a:rPr b="0" i="0" lang="pt-BR" sz="1300" u="none" cap="none" strike="noStrike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rPr>
                <a:t>0 km</a:t>
              </a:r>
              <a:endParaRPr b="0" i="0" sz="1300" u="none" cap="none" strike="noStrike">
                <a:solidFill>
                  <a:srgbClr val="14233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8621369" y="5751018"/>
              <a:ext cx="660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DM Sans"/>
                <a:buNone/>
              </a:pPr>
              <a:r>
                <a:rPr b="0" i="0" lang="pt-BR" sz="1300" u="none" cap="none" strike="noStrike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rPr>
                <a:t>31 km</a:t>
              </a:r>
              <a:endParaRPr b="0" i="0" sz="1300" u="none" cap="none" strike="noStrike">
                <a:solidFill>
                  <a:srgbClr val="14233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898650" y="1791775"/>
            <a:ext cx="86178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Parte 2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- Projeção na trajetória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Transforma um ponto que tem (lat, lon, t) em (s, t)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Os resíduos laterais são reinseridos no final da geração sintética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02_projecao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5586" y="3050000"/>
            <a:ext cx="6434827" cy="33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898650" y="1791775"/>
            <a:ext cx="86178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Parte 2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- Projeção na trajetória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Montserrat"/>
              <a:buChar char="●"/>
            </a:pPr>
            <a:r>
              <a:rPr b="0" i="0" lang="pt-BR" sz="14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Transforma um ponto que tem (lat, lon, t) em (s, t)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Os resíduos laterais são reinseridos no final da geração sintética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02_projecao" id="166" name="Google Shape;1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5586" y="3050000"/>
            <a:ext cx="6434827" cy="33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descr="f03_monotonia_ultima_obs" id="173" name="Google Shape;1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467" y="3500000"/>
            <a:ext cx="8045065" cy="28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485900" y="1177950"/>
            <a:ext cx="92655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 3: Monotonização por última observação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corrigir pequenos recuos impossíveis na posição ao longo da rota, causados pelo ruído da projeção (não pelo movimento do ônibus).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Método: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quando a posição recua, repete-se a última posição válida (máximo acumulado: s̃ᵢ = max(s₁, …, sᵢ)). As amostras corretas não mudam e as paradas são preservadas.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85900" y="1177950"/>
            <a:ext cx="92655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 3: Monotonização — amostras isoladas à frente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Problema: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onde a rota passa perto de si mesma, uma amostra pode ser projetada centenas de metros à frente; a última observação “congelaria” nela.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Solução: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antes do máximo acumulado, descarta-se a amostra que está mais de 100 m à frente de alguma das 3 amostras seguintes.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3" title="Captura de Tela 2026-08-25 às 08.38.11.png" descr="f04_monotonia_salt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245" y="3500000"/>
            <a:ext cx="8035510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485900" y="1177950"/>
            <a:ext cx="92655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Passo 4: Interpolação PCHIP</a:t>
            </a:r>
            <a:endParaRPr b="1"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transformar os pontos discretos (já monotonizados no Passo 3) numa curva contínua no tempo, necessária para amostrar em qualquer instante.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PCHIP = Piecewise Cubic Hermite Interpolating Polynomial: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 ajusta polinômios cúbicos por partes, mas escolhe as derivadas para nunca ultrapassar (overshoot) os dados observados.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4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24" title="Captura de Tela 2026-08-25 às 08.42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875" y="3758425"/>
            <a:ext cx="5063676" cy="27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485900" y="1177950"/>
            <a:ext cx="6842700" cy="4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Passo 5: SRVF</a:t>
            </a:r>
            <a:endParaRPr b="1"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Se calculássemos a média ponto-a-ponto de várias curvas γ(τ) de</a:t>
            </a:r>
            <a:br>
              <a:rPr lang="pt-BR" sz="1427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viagens diferentes, o resultado seria uma curva borrada: pequenas diferenças de ritmo entre as viagens 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Se utiliza a curva da raiz quadrada da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velocidade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A solução (Srivastava et al. 2011) é separar cada curva em dois componentes antes de fazer qualquer média: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Amplitude: a "forma" da curva, livre da variação de tempo.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Fase: o "ritmo"/tempo em que cada evento acontece.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5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25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25" title="Captura de Tela 2026-08-25 às 08.46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25" y="1942200"/>
            <a:ext cx="31813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7425" y="3701975"/>
            <a:ext cx="3544050" cy="5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/>
          <p:nvPr/>
        </p:nvSpPr>
        <p:spPr>
          <a:xfrm>
            <a:off x="1809852" y="4654360"/>
            <a:ext cx="2678100" cy="1986600"/>
          </a:xfrm>
          <a:prstGeom prst="roundRect">
            <a:avLst>
              <a:gd fmla="val 5654" name="adj"/>
            </a:avLst>
          </a:prstGeom>
          <a:solidFill>
            <a:srgbClr val="FFFDF8"/>
          </a:solidFill>
          <a:ln cap="flat" cmpd="sng" w="6125">
            <a:solidFill>
              <a:srgbClr val="E2D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00" lIns="58800" spcFirstLastPara="1" rIns="58800" wrap="square" tIns="5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1944252" y="4819775"/>
            <a:ext cx="24816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58"/>
              <a:buFont typeface="Space Grotesk"/>
              <a:buNone/>
            </a:pPr>
            <a:r>
              <a:rPr b="1" i="0" lang="pt-BR" sz="1158" u="none" cap="none" strike="noStrike">
                <a:solidFill>
                  <a:srgbClr val="14233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Antes</a:t>
            </a:r>
            <a:endParaRPr b="0" i="0" sz="1158" u="none" cap="none" strike="noStrike">
              <a:solidFill>
                <a:srgbClr val="1423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Duas viagens reais com picos desencontrados" id="208" name="Google Shape;208;p25"/>
          <p:cNvPicPr preferRelativeResize="0"/>
          <p:nvPr/>
        </p:nvPicPr>
        <p:blipFill rotWithShape="1">
          <a:blip r:embed="rId5">
            <a:alphaModFix/>
          </a:blip>
          <a:srcRect b="-90" l="0" r="0" t="-90"/>
          <a:stretch/>
        </p:blipFill>
        <p:spPr>
          <a:xfrm>
            <a:off x="1944252" y="5077854"/>
            <a:ext cx="2376057" cy="93913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/>
          <p:nvPr/>
        </p:nvSpPr>
        <p:spPr>
          <a:xfrm>
            <a:off x="1944252" y="6315404"/>
            <a:ext cx="2481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pt-BR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Picos e vales desencontrados</a:t>
            </a:r>
            <a:endParaRPr b="0" i="0" sz="900" u="none" cap="none" strike="noStrike">
              <a:solidFill>
                <a:srgbClr val="1423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4650503" y="4654360"/>
            <a:ext cx="2678100" cy="1986600"/>
          </a:xfrm>
          <a:prstGeom prst="roundRect">
            <a:avLst>
              <a:gd fmla="val 5654" name="adj"/>
            </a:avLst>
          </a:prstGeom>
          <a:solidFill>
            <a:srgbClr val="FFFDF8"/>
          </a:solidFill>
          <a:ln cap="flat" cmpd="sng" w="6125">
            <a:solidFill>
              <a:srgbClr val="E2D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00" lIns="58800" spcFirstLastPara="1" rIns="58800" wrap="square" tIns="5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4784903" y="4819775"/>
            <a:ext cx="24816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58"/>
              <a:buFont typeface="Space Grotesk"/>
              <a:buNone/>
            </a:pPr>
            <a:r>
              <a:rPr b="1" i="0" lang="pt-BR" sz="1158" u="none" cap="none" strike="noStrike">
                <a:solidFill>
                  <a:srgbClr val="14233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Depois</a:t>
            </a:r>
            <a:endParaRPr b="0" i="0" sz="1158" u="none" cap="none" strike="noStrike">
              <a:solidFill>
                <a:srgbClr val="1423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s mesmas viagens após o alinhamento elástico, com picos casados" id="212" name="Google Shape;212;p25"/>
          <p:cNvPicPr preferRelativeResize="0"/>
          <p:nvPr/>
        </p:nvPicPr>
        <p:blipFill rotWithShape="1">
          <a:blip r:embed="rId6">
            <a:alphaModFix/>
          </a:blip>
          <a:srcRect b="-90" l="0" r="0" t="-90"/>
          <a:stretch/>
        </p:blipFill>
        <p:spPr>
          <a:xfrm>
            <a:off x="4784903" y="5077854"/>
            <a:ext cx="2376057" cy="939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4784903" y="6315404"/>
            <a:ext cx="2481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lang="pt-BR" sz="90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Alinhamento das 2 curvas</a:t>
            </a:r>
            <a:endParaRPr b="0" i="0" sz="900" u="none" cap="none" strike="noStrike">
              <a:solidFill>
                <a:srgbClr val="1423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485900" y="1177950"/>
            <a:ext cx="9135300" cy="4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 7: Seleção de vizinhos (k-NN funcional)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Para sintetizar uma viagem nova, não usamos todas as viagens reais disponíveis, só as K = 4 mais parecidas com uma viagem “âncora”, da mesma faixa horária e do mesmo tipo de dia (Passo 6).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Passos: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sorteia-se uma viagem real da faixa para ser âncora;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cada candidato com extensão parecida é alinhado à âncora (DP), gerando uma distância elástica Dᵢ;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selecionam-se os K = 4 vizinhos de menor distância; a âncora não entra na média.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6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p26" descr="f07_knn_entrada"/>
          <p:cNvPicPr preferRelativeResize="0"/>
          <p:nvPr/>
        </p:nvPicPr>
        <p:blipFill rotWithShape="1">
          <a:blip r:embed="rId5">
            <a:alphaModFix/>
          </a:blip>
          <a:srcRect b="0" l="68000" r="0" t="0"/>
          <a:stretch/>
        </p:blipFill>
        <p:spPr>
          <a:xfrm>
            <a:off x="1567143" y="4150000"/>
            <a:ext cx="2365714" cy="22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 descr="f08_knn_alinhamento"/>
          <p:cNvPicPr preferRelativeResize="0"/>
          <p:nvPr/>
        </p:nvPicPr>
        <p:blipFill rotWithShape="1">
          <a:blip r:embed="rId6">
            <a:alphaModFix/>
          </a:blip>
          <a:srcRect b="0" l="49000" r="0" t="0"/>
          <a:stretch/>
        </p:blipFill>
        <p:spPr>
          <a:xfrm>
            <a:off x="5401684" y="4150000"/>
            <a:ext cx="3296631" cy="22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485900" y="1177950"/>
            <a:ext cx="9135300" cy="4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Passo 8: Mecanismo de Dirichlet — geração da variabilidade</a:t>
            </a:r>
            <a:endParaRPr b="1"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É a peça que efetivamente gera diversidade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Passo 1 — parâmetro de concentração por vizinho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2 - Sorteio dos pesos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3 - SRVF sintética como média ponderada pelos pesos sorteados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0482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4 - Reconstrução final por SRVF inversa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7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27" title="Captura de Tela 2026-08-25 às 09.01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375" y="3259425"/>
            <a:ext cx="1704797" cy="6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 title="Captura de Tela 2026-08-25 às 09.01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122" y="2610800"/>
            <a:ext cx="2906412" cy="60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_dir_density.png" id="236" name="Google Shape;23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5856" y="1884523"/>
            <a:ext cx="3360321" cy="6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/>
        </p:nvSpPr>
        <p:spPr>
          <a:xfrm>
            <a:off x="485900" y="1177950"/>
            <a:ext cx="9135300" cy="4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b="1" lang="pt-BR" sz="1427">
                <a:latin typeface="Montserrat"/>
                <a:ea typeface="Montserrat"/>
                <a:cs typeface="Montserrat"/>
                <a:sym typeface="Montserrat"/>
              </a:rPr>
              <a:t>Passo 8: Mecanismo de Dirichlet — geração da variabilidade</a:t>
            </a:r>
            <a:endParaRPr b="1"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É a peça que efetivamente gera diversidade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Passo 1 — parâmetro de concentração por vizinho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2 - Sorteio dos pesos 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3 - SRVF sintética como média ponderada pelos pesos sorteados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0482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4 - Reconstrução final por SRVF inversa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8"/>
          <p:cNvSpPr txBox="1"/>
          <p:nvPr>
            <p:ph idx="4294967295" type="title"/>
          </p:nvPr>
        </p:nvSpPr>
        <p:spPr>
          <a:xfrm>
            <a:off x="987480" y="119160"/>
            <a:ext cx="7685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8"/>
          <p:cNvSpPr txBox="1"/>
          <p:nvPr>
            <p:ph idx="12" type="sldNum"/>
          </p:nvPr>
        </p:nvSpPr>
        <p:spPr>
          <a:xfrm>
            <a:off x="9432360" y="6418080"/>
            <a:ext cx="473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</a:pPr>
            <a:fld id="{00000000-1234-1234-1234-123412341234}" type="slidenum">
              <a:rPr b="0" lang="pt-BR" sz="1200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p28" title="Captura de Tela 2026-08-25 às 09.01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375" y="3259425"/>
            <a:ext cx="1704797" cy="6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 title="Captura de Tela 2026-08-25 às 09.01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122" y="2610800"/>
            <a:ext cx="2906412" cy="60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_dir_density.png" id="248" name="Google Shape;24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5856" y="1884523"/>
            <a:ext cx="3360321" cy="60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11_simplex.png" id="249" name="Google Shape;24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1275" y="4395600"/>
            <a:ext cx="7581899" cy="23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484632" y="1078992"/>
            <a:ext cx="932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Passo </a:t>
            </a:r>
            <a:r>
              <a:rPr b="1" lang="pt-BR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 Adição de ruído lateral sintético</a:t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484632" y="1641528"/>
            <a:ext cx="9418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cada</a:t>
            </a:r>
            <a:r>
              <a:rPr lang="pt-BR" sz="1300">
                <a:latin typeface="Montserrat"/>
                <a:ea typeface="Montserrat"/>
                <a:cs typeface="Montserrat"/>
                <a:sym typeface="Montserrat"/>
              </a:rPr>
              <a:t> ponto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sintético, amostramos um desvio ε ~ N(0, σ²) e deslocamos o ponto na direção perpendicular à rota naquele s </a:t>
            </a:r>
            <a:r>
              <a:rPr lang="pt-BR" sz="1300"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vetor normal unitário é obtido girando 90° o vetor tangente da rota.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σ é o desvio-padrão empírico dos resíduos laterais reais, medidos na projeção (Parte 2)</a:t>
            </a:r>
            <a:r>
              <a:rPr lang="pt-BR" sz="1300"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64" name="Google Shape;264;p30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30" descr="r01_mapa_sintetica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1763809"/>
            <a:ext cx="9406000" cy="442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71" name="Google Shape;271;p31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3" name="Google Shape;273;p31" descr="r02_curvas_gamm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2138730"/>
            <a:ext cx="9406000" cy="367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pic>
        <p:nvPicPr>
          <p:cNvPr id="280" name="Google Shape;280;p32" descr="r03_velocidad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1884383"/>
            <a:ext cx="9406000" cy="418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87" name="Google Shape;287;p33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88" name="Google Shape;288;p33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9" name="Google Shape;289;p33" descr="r04_velocidade_percurs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1884383"/>
            <a:ext cx="9406000" cy="418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95" name="Google Shape;295;p34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96" name="Google Shape;296;p34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7" name="Google Shape;297;p34" descr="r05_duracao_por_hor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1884383"/>
            <a:ext cx="9406000" cy="418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04" name="Google Shape;304;p35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p35" descr="r06_qq_duraca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" y="1880431"/>
            <a:ext cx="9406000" cy="418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8" name="Google Shape;278;p32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pic>
        <p:nvPicPr>
          <p:cNvPr id="280" name="Google Shape;280;p32" descr="f07_knn_ent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43" y="1600000"/>
            <a:ext cx="7885714" cy="2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0;p32" descr="f08_knn_alinhament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7364" y="4050000"/>
            <a:ext cx="6751271" cy="2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3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85900" y="1177950"/>
            <a:ext cx="92655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 6: Seleção de horários (faixas por ritmo)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o ritmo da viagem muda ao longo do dia (picos) e entre dia útil e fim de semana; os vizinhos precisam ter o ritmo da viagem que se quer gerar.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Ideia: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para cada rota, o dia é cortado onde a duração típica das viagens muda. Dia útil e sábado/domingo são divididos separadamente.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3" title="Captura de Tela 2026-08-25 às 08.38.11.png" descr="f05_horarios_idei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456" y="3500000"/>
            <a:ext cx="8347087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3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85900" y="1177950"/>
            <a:ext cx="92655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Passo 6: Como as fronteiras das faixas são escolhidas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Método: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blocos de 15 min; programação dinâmica acha a divisão em faixas contíguas com menor erro do log(duração). Cada faixa nova paga uma multa 2·σ²·ln(n) (BIC) e precisa ter ≥ 20 viagens.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  <a:p>
            <a:pPr indent="-31923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7"/>
              <a:buFont typeface="Montserrat"/>
              <a:buChar char="●"/>
            </a:pPr>
            <a:r>
              <a:rPr lang="pt-BR" sz="1427" b="1">
                <a:latin typeface="Montserrat"/>
                <a:ea typeface="Montserrat"/>
                <a:cs typeface="Montserrat"/>
                <a:sym typeface="Montserrat"/>
              </a:rPr>
              <a:t>Uso: </a:t>
            </a:r>
            <a:r>
              <a:rPr lang="pt-BR" sz="1427">
                <a:latin typeface="Montserrat"/>
                <a:ea typeface="Montserrat"/>
                <a:cs typeface="Montserrat"/>
                <a:sym typeface="Montserrat"/>
              </a:rPr>
              <a:t>âncora e vizinhos vêm da mesma faixa; a hora de partida da sintética é uma partida real da faixa ± 7,5 min.</a:t>
            </a:r>
            <a:endParaRPr sz="142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0" y="1077300"/>
            <a:ext cx="650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3" title="Captura de Tela 2026-08-25 às 08.38.11.png" descr="f06_horarios_metod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201" y="3500000"/>
            <a:ext cx="7955598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4" name="Google Shape;254;p29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484632" y="1078992"/>
            <a:ext cx="932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F3B57"/>
                </a:solidFill>
                <a:latin typeface="Montserrat"/>
                <a:ea typeface="Montserrat"/>
                <a:cs typeface="Montserrat"/>
                <a:sym typeface="Montserrat"/>
              </a:rPr>
              <a:t>Linhas utilizadas e dados sintéticos gerados</a:t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484632" y="1641528"/>
            <a:ext cx="9418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 linhas de Curitiba, 25 rotas </a:t>
            </a:r>
            <a:r>
              <a:rPr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(5 circulares e 10 linhas com ida e volta), com 53.320 viagens reais de março/2026.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Gerado: </a:t>
            </a:r>
            <a:r>
              <a:rPr i="0" lang="pt-BR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150 viagens sintéticas por rota, repartidas entre as faixas na proporção das reais: 3.750 viagens e 14,8 milhões de amostras a 1 Hz.</a:t>
            </a:r>
            <a:endParaRPr/>
          </a:p>
        </p:txBody>
      </p:sp>
      <p:pic>
        <p:nvPicPr>
          <p:cNvPr id="266" name="Google Shape;265;p30" descr="f09_linha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034" y="3080000"/>
            <a:ext cx="6655932" cy="33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2" name="Google Shape;302;p35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04" name="Google Shape;304;p35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p35" descr="r07_amostras_1hz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00" y="1621006"/>
            <a:ext cx="9406000" cy="470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2" name="Google Shape;302;p35"/>
          <p:cNvSpPr txBox="1"/>
          <p:nvPr/>
        </p:nvSpPr>
        <p:spPr>
          <a:xfrm>
            <a:off x="987552" y="118872"/>
            <a:ext cx="76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dados sintéticos para ônibus elétricos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9372600" y="6419088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04" name="Google Shape;304;p35"/>
          <p:cNvSpPr txBox="1"/>
          <p:nvPr/>
        </p:nvSpPr>
        <p:spPr>
          <a:xfrm>
            <a:off x="0" y="1077300"/>
            <a:ext cx="6367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66000" spcFirstLastPara="1" rIns="6600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7"/>
              <a:buFont typeface="Arial"/>
              <a:buNone/>
            </a:pPr>
            <a:r>
              <a:rPr b="1" i="0" lang="pt-BR" sz="152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	Modelo Gerador de dados sintéticos:</a:t>
            </a:r>
            <a:endParaRPr b="0" i="0" sz="1427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p35" descr="r08_resumo_25_rota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87" y="1600000"/>
            <a:ext cx="8590425" cy="47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